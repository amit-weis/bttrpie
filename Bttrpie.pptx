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78" r:id="rId7"/>
    <p:sldId id="258" r:id="rId8"/>
    <p:sldId id="286" r:id="rId9"/>
    <p:sldId id="287" r:id="rId10"/>
    <p:sldId id="289" r:id="rId11"/>
    <p:sldId id="288" r:id="rId12"/>
    <p:sldId id="290" r:id="rId13"/>
    <p:sldId id="291" r:id="rId14"/>
    <p:sldId id="292" r:id="rId15"/>
    <p:sldId id="293" r:id="rId16"/>
    <p:sldId id="296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0655" autoAdjust="0"/>
  </p:normalViewPr>
  <p:slideViewPr>
    <p:cSldViewPr snapToGrid="0">
      <p:cViewPr>
        <p:scale>
          <a:sx n="100" d="100"/>
          <a:sy n="100" d="100"/>
        </p:scale>
        <p:origin x="595" y="28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86FD-3544-4ED8-878A-8F8AEC71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406AC-1240-F074-3CF8-045F19438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62DAA-92A9-DC29-B046-0F34E26C9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89F44-798D-01B1-D72A-EE0A0125C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959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03D95-97CA-0A22-E669-8278FCEAB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064A9-A384-FE23-9905-612C0C1AA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ADA8A-2162-CA51-0543-0E4F2A710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3E91B-2960-9CA7-5313-7255534FB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970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0EF2-64BC-7A35-5BDE-18F9A06C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CEB8F-C6C1-D165-6496-10ACFF43B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52FD7-7B2D-6829-E2AE-6A67C4020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94B02-4EA4-0652-2981-5360E7C68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005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C3A2C-CCD6-56D4-C8BA-43D895D8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B2AAE-CFB2-79A4-347A-46ED47A4B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EE4B2-5B34-B64B-C6B8-9E9308EEB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97B53-8C7F-2687-AA6D-0FBE247F0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843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12961-346E-2CFE-8CB1-915DF6DF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728E2-2745-2D9E-7BED-54F6A26B4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AAFAC-FE2A-1D7E-AB01-7BA2D63D1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F17F7-28CB-7F7B-61CF-5498C8CD9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273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0B91C-4142-118D-190C-6A459EC2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13A4C-12E0-87F8-4883-BB09EBA9F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03DD6-C5D6-3D2B-FA30-A4EF70477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62F72-736B-2CDA-7B44-75BE339E5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082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F8092-9DF2-F216-D7A5-12DE2DB6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92CA5-1DC5-9B1A-1258-169D3187C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29419-635E-4102-9FD7-E96D83766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FDC26-E4C0-71F6-0F52-BFD08DAB7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668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33161-1F0F-A53D-1C60-E31BD126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1FB2A-276C-1702-D0FD-AA7DDA7C0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96AE1-E50A-7ECA-B3D5-873CA3762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CF6B9-DF91-438C-3763-AE3B8AD42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368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8864" y="2221426"/>
            <a:ext cx="1981646" cy="3200400"/>
          </a:xfrm>
        </p:spPr>
        <p:txBody>
          <a:bodyPr anchor="ctr"/>
          <a:lstStyle/>
          <a:p>
            <a:pPr algn="ctr"/>
            <a:r>
              <a:rPr lang="en-US" dirty="0"/>
              <a:t>Bttrpie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F4EEF-EE6B-9B89-622D-49AC572B0F69}"/>
              </a:ext>
            </a:extLst>
          </p:cNvPr>
          <p:cNvSpPr txBox="1"/>
          <p:nvPr/>
        </p:nvSpPr>
        <p:spPr>
          <a:xfrm>
            <a:off x="8156641" y="3632307"/>
            <a:ext cx="3706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By: Alexander, Amit, Lawrence, Leo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BTTR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674013"/>
            <a:ext cx="3252355" cy="326958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Design &amp; Criteria</a:t>
            </a:r>
          </a:p>
          <a:p>
            <a:r>
              <a:rPr lang="en-US" dirty="0">
                <a:solidFill>
                  <a:schemeClr val="tx1"/>
                </a:solidFill>
              </a:rPr>
              <a:t>BTTR Procedure</a:t>
            </a:r>
          </a:p>
          <a:p>
            <a:r>
              <a:rPr lang="en-US" dirty="0">
                <a:solidFill>
                  <a:schemeClr val="tx1"/>
                </a:solidFill>
              </a:rPr>
              <a:t>Testing Procedure</a:t>
            </a:r>
          </a:p>
          <a:p>
            <a:r>
              <a:rPr lang="en-US" dirty="0">
                <a:solidFill>
                  <a:schemeClr val="tx1"/>
                </a:solidFill>
              </a:rPr>
              <a:t>Schedule</a:t>
            </a:r>
          </a:p>
          <a:p>
            <a:r>
              <a:rPr lang="en-US" dirty="0">
                <a:solidFill>
                  <a:schemeClr val="tx1"/>
                </a:solidFill>
              </a:rPr>
              <a:t>Feedback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Design &amp; Criteria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Design &amp;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The design remains mostly unchanged </a:t>
            </a:r>
          </a:p>
          <a:p>
            <a:pPr lvl="1"/>
            <a:r>
              <a:rPr lang="en-US" b="0" dirty="0"/>
              <a:t>Minor changes to the gantry travel system </a:t>
            </a:r>
          </a:p>
          <a:p>
            <a:pPr lvl="1"/>
            <a:r>
              <a:rPr lang="en-US" b="0" dirty="0"/>
              <a:t>Changes to table structure and the triangle collapsable wall</a:t>
            </a:r>
          </a:p>
          <a:p>
            <a:pPr lvl="1"/>
            <a:r>
              <a:rPr lang="en-US" dirty="0"/>
              <a:t>Substantial redesign met</a:t>
            </a:r>
          </a:p>
          <a:p>
            <a:pPr lvl="1"/>
            <a:r>
              <a:rPr lang="en-US" b="0" dirty="0"/>
              <a:t>Programming requirements to be met</a:t>
            </a:r>
          </a:p>
          <a:p>
            <a:pPr lvl="1"/>
            <a:endParaRPr lang="en-US" b="0" dirty="0"/>
          </a:p>
          <a:p>
            <a:pPr lvl="1"/>
            <a:endParaRPr lang="en-US" b="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4DDF2-7F7E-460F-DC84-136B6F87F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50DD-E898-DF26-B75A-F46C62A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Design &amp;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982ED-FD69-AC10-C07F-8BC3C9D8F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1 motor for claw </a:t>
            </a:r>
          </a:p>
          <a:p>
            <a:pPr lvl="1"/>
            <a:r>
              <a:rPr lang="en-US" dirty="0"/>
              <a:t>3 motor for gantry movement </a:t>
            </a:r>
          </a:p>
          <a:p>
            <a:pPr lvl="2"/>
            <a:r>
              <a:rPr lang="en-US" dirty="0"/>
              <a:t>X axis</a:t>
            </a:r>
          </a:p>
          <a:p>
            <a:pPr lvl="2"/>
            <a:r>
              <a:rPr lang="en-US" dirty="0"/>
              <a:t>Y axis</a:t>
            </a:r>
          </a:p>
          <a:p>
            <a:pPr lvl="2"/>
            <a:r>
              <a:rPr lang="en-US" dirty="0"/>
              <a:t>Z axis</a:t>
            </a:r>
          </a:p>
          <a:p>
            <a:pPr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C972172-D43A-D988-6142-46A12F1B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3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DA706-1773-38ED-DAFA-0B157A5AF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34C1-6896-1F05-7691-0BDC9ADCD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Design &amp;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DD3B0-750C-6359-9286-87C4BCDB9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Optical sensor for detecting different balls </a:t>
            </a:r>
          </a:p>
          <a:p>
            <a:pPr lvl="1"/>
            <a:r>
              <a:rPr lang="en-US" dirty="0"/>
              <a:t>Bumper sensor for precise z axis motion </a:t>
            </a:r>
          </a:p>
          <a:p>
            <a:pPr lvl="1"/>
            <a:r>
              <a:rPr lang="en-US" dirty="0"/>
              <a:t>TouchLED sensor to initiate the reset procedure</a:t>
            </a:r>
          </a:p>
          <a:p>
            <a:pPr lvl="1"/>
            <a:r>
              <a:rPr lang="en-US" dirty="0"/>
              <a:t>Controller for testing and manual control </a:t>
            </a:r>
          </a:p>
          <a:p>
            <a:pPr lvl="1"/>
            <a:r>
              <a:rPr lang="en-US" dirty="0"/>
              <a:t>Motor encoder for position tracking</a:t>
            </a:r>
          </a:p>
          <a:p>
            <a:pPr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F6CFEE3-5C42-A56D-2682-5CA7AD84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14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17265-2818-DB43-5B60-280E8EFDB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A608D-EF06-830C-B01C-5720E0CBE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BTTR</a:t>
            </a:r>
            <a:br>
              <a:rPr lang="en-US" dirty="0"/>
            </a:br>
            <a:r>
              <a:rPr lang="en-US" dirty="0"/>
              <a:t>Procedure</a:t>
            </a:r>
          </a:p>
        </p:txBody>
      </p:sp>
    </p:spTree>
    <p:extLst>
      <p:ext uri="{BB962C8B-B14F-4D97-AF65-F5344CB8AC3E}">
        <p14:creationId xmlns:p14="http://schemas.microsoft.com/office/powerpoint/2010/main" val="655876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542DD-43C8-686F-9D84-1D3AFC642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97702-F08B-13D0-E3F3-29C3449FE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137876"/>
          </a:xfrm>
        </p:spPr>
        <p:txBody>
          <a:bodyPr/>
          <a:lstStyle/>
          <a:p>
            <a:r>
              <a:rPr lang="en-US" dirty="0"/>
              <a:t>BTTR Procedure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88FBF-4596-E7AB-57B7-70EBCE48E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1676400"/>
            <a:ext cx="8271885" cy="4493729"/>
          </a:xfrm>
        </p:spPr>
        <p:txBody>
          <a:bodyPr>
            <a:normAutofit/>
          </a:bodyPr>
          <a:lstStyle/>
          <a:p>
            <a:pPr fontAlgn="base"/>
            <a:r>
              <a:rPr lang="en-US" b="0" dirty="0"/>
              <a:t>Sorting System</a:t>
            </a:r>
            <a:r>
              <a:rPr lang="en-US" dirty="0"/>
              <a:t> </a:t>
            </a:r>
            <a:endParaRPr lang="en-US" b="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Analyze painted ping pong balls will be placed in a single slanted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detect and identifying each ball by color.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A grabber claw will then sort the balls into ordered positions.</a:t>
            </a:r>
            <a:br>
              <a:rPr lang="en-US" b="0" dirty="0"/>
            </a:br>
            <a:br>
              <a:rPr lang="en-US" b="0" dirty="0"/>
            </a:br>
            <a:endParaRPr lang="en-US" b="0" dirty="0"/>
          </a:p>
          <a:p>
            <a:pPr fontAlgn="base"/>
            <a:r>
              <a:rPr lang="en-US" b="0" dirty="0"/>
              <a:t>Placing System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pick up balls and place them into the triangular rack formation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Move triangle past opened section of the wall, and into proper location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lift the triangle and reset the machine to become ready for play.</a:t>
            </a:r>
          </a:p>
          <a:p>
            <a:pPr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A96575-B508-FF8B-D2A5-40C9530E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344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11252-5979-0394-F59E-431E1999A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6525-8BEA-BA75-8BA9-B8D22CE94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137876"/>
          </a:xfrm>
        </p:spPr>
        <p:txBody>
          <a:bodyPr/>
          <a:lstStyle/>
          <a:p>
            <a:r>
              <a:rPr lang="en-US" dirty="0"/>
              <a:t>BTTR Procedure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8E83C-40F1-10F4-B1A1-9DD9769A0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1676400"/>
            <a:ext cx="8271885" cy="4493729"/>
          </a:xfrm>
        </p:spPr>
        <p:txBody>
          <a:bodyPr>
            <a:normAutofit/>
          </a:bodyPr>
          <a:lstStyle/>
          <a:p>
            <a:pPr fontAlgn="base"/>
            <a:r>
              <a:rPr lang="en-US" b="0" dirty="0"/>
              <a:t>Sorting System</a:t>
            </a:r>
            <a:r>
              <a:rPr lang="en-US" dirty="0"/>
              <a:t> </a:t>
            </a:r>
            <a:endParaRPr lang="en-US" b="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Shows optical sensor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Shows bumper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Shows TouchLED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Shows Motor Encoders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Shows all 4 motors</a:t>
            </a:r>
            <a:br>
              <a:rPr lang="en-US" b="0" dirty="0"/>
            </a:br>
            <a:br>
              <a:rPr lang="en-US" b="0" dirty="0"/>
            </a:br>
            <a:endParaRPr lang="en-US" b="0" dirty="0"/>
          </a:p>
          <a:p>
            <a:pPr fontAlgn="base"/>
            <a:r>
              <a:rPr lang="en-US" b="0" dirty="0"/>
              <a:t>Placing System </a:t>
            </a:r>
          </a:p>
          <a:p>
            <a:pPr lvl="1"/>
            <a:r>
              <a:rPr lang="en-US" dirty="0"/>
              <a:t>Shows everything again, and therefore an optional part of the project and will only be built if time allows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263819D-8A38-DDC8-6A42-227306D5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600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FD7F0-436B-B73C-72C5-3DA4BC69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2957-E011-7C8B-1FC8-169DA7DCF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TESTING</a:t>
            </a:r>
            <a:br>
              <a:rPr lang="en-US" dirty="0"/>
            </a:br>
            <a:r>
              <a:rPr lang="en-US" dirty="0"/>
              <a:t>Procedure</a:t>
            </a:r>
          </a:p>
        </p:txBody>
      </p:sp>
    </p:spTree>
    <p:extLst>
      <p:ext uri="{BB962C8B-B14F-4D97-AF65-F5344CB8AC3E}">
        <p14:creationId xmlns:p14="http://schemas.microsoft.com/office/powerpoint/2010/main" val="291771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B433C-1888-0298-E687-E4AE44E3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65FB-0D32-5EDE-F21B-7F310BB7A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597548"/>
          </a:xfrm>
        </p:spPr>
        <p:txBody>
          <a:bodyPr/>
          <a:lstStyle/>
          <a:p>
            <a:r>
              <a:rPr lang="en-US" dirty="0"/>
              <a:t>TESTING Procedure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29F9B-38C6-C0C9-01EA-E6DA304DE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969818"/>
            <a:ext cx="8271885" cy="5701146"/>
          </a:xfrm>
        </p:spPr>
        <p:txBody>
          <a:bodyPr>
            <a:norm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Step 1</a:t>
            </a:r>
          </a:p>
          <a:p>
            <a:pPr marL="569214" lvl="1" fontAlgn="base"/>
            <a:r>
              <a:rPr lang="en-US" dirty="0"/>
              <a:t>Play pool </a:t>
            </a:r>
          </a:p>
          <a:p>
            <a:pPr marL="852678" lvl="2" fontAlgn="base"/>
            <a:r>
              <a:rPr lang="en-US" dirty="0"/>
              <a:t>Is the game of pool playable or is the robotics interfering significantly with play?</a:t>
            </a:r>
          </a:p>
          <a:p>
            <a:pPr marL="852678" lvl="2" fontAlgn="base"/>
            <a:r>
              <a:rPr lang="en-US" dirty="0"/>
              <a:t>Are the balls collected (unsorted) in the chute?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0" dirty="0"/>
              <a:t>Step 2</a:t>
            </a:r>
          </a:p>
          <a:p>
            <a:pPr marL="569214" lvl="1" fontAlgn="base"/>
            <a:r>
              <a:rPr lang="en-US" dirty="0"/>
              <a:t>Testing BTTR procedure</a:t>
            </a:r>
          </a:p>
          <a:p>
            <a:pPr marL="852678" lvl="2" fontAlgn="base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Does the claw move correctly?</a:t>
            </a:r>
          </a:p>
          <a:p>
            <a:pPr marL="852678" lvl="2" fontAlgn="base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Does the claw detect the balls correctly? </a:t>
            </a:r>
          </a:p>
          <a:p>
            <a:pPr marL="852678" lvl="2" fontAlgn="base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Does the claw sort the balls correctly?</a:t>
            </a:r>
          </a:p>
          <a:p>
            <a:pPr marL="852678" lvl="2" fontAlgn="base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Does the claw place the balls in the triangle correctly?</a:t>
            </a:r>
          </a:p>
          <a:p>
            <a:pPr marL="852678" lvl="2" fontAlgn="base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Does the claw place the triangle correctly?</a:t>
            </a:r>
          </a:p>
          <a:p>
            <a:pPr marL="852678" lvl="2" fontAlgn="base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Does the claw reset the triangle correctly?</a:t>
            </a:r>
          </a:p>
          <a:p>
            <a:pPr marL="852678" lvl="2" fontAlgn="base"/>
            <a:r>
              <a:rPr lang="en-US" dirty="0"/>
              <a:t>Does the claw reset position correctly?</a:t>
            </a:r>
          </a:p>
          <a:p>
            <a:pPr marL="852678" lvl="2" fontAlgn="base"/>
            <a:endParaRPr lang="en-US" dirty="0"/>
          </a:p>
          <a:p>
            <a:pPr marL="852678" lvl="2" fontAlgn="base"/>
            <a:endParaRPr lang="en-US" dirty="0"/>
          </a:p>
          <a:p>
            <a:pPr marL="852678" lvl="2" fontAlgn="base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EAA1FED-1583-E148-72A2-24DE7E4F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478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58622-8270-553C-23DA-D093E300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128F4-2E4E-2173-8BE6-F42F73AFD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</p:spTree>
    <p:extLst>
      <p:ext uri="{BB962C8B-B14F-4D97-AF65-F5344CB8AC3E}">
        <p14:creationId xmlns:p14="http://schemas.microsoft.com/office/powerpoint/2010/main" val="1957415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2D69E-646A-EAFD-052C-C3B0B320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 descr="A screenshot of a calendar&#10;&#10;AI-generated content may be incorrect.">
            <a:extLst>
              <a:ext uri="{FF2B5EF4-FFF2-40B4-BE49-F238E27FC236}">
                <a16:creationId xmlns:a16="http://schemas.microsoft.com/office/drawing/2014/main" id="{3A33F82B-C64D-9D24-91CA-011A3715C0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56" b="-1"/>
          <a:stretch>
            <a:fillRect/>
          </a:stretch>
        </p:blipFill>
        <p:spPr>
          <a:xfrm>
            <a:off x="1658470" y="1135380"/>
            <a:ext cx="8875059" cy="572262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A3030BF-C830-B229-5C1A-EB26C6E72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7482" y="77861"/>
            <a:ext cx="7288282" cy="1137876"/>
          </a:xfrm>
        </p:spPr>
        <p:txBody>
          <a:bodyPr/>
          <a:lstStyle/>
          <a:p>
            <a:r>
              <a:rPr lang="en-US" dirty="0"/>
              <a:t>Schedule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549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9635" y="3143398"/>
            <a:ext cx="2792730" cy="571204"/>
          </a:xfrm>
        </p:spPr>
        <p:txBody>
          <a:bodyPr anchor="t"/>
          <a:lstStyle/>
          <a:p>
            <a:pPr algn="ctr"/>
            <a:r>
              <a:rPr lang="en-US" dirty="0"/>
              <a:t>Thank you</a:t>
            </a:r>
            <a:br>
              <a:rPr lang="en-US" dirty="0"/>
            </a:br>
            <a:r>
              <a:rPr lang="en-US" sz="1800" dirty="0"/>
              <a:t>from the Bttr Team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{F6963620-BDBC-4D98-8FC7-C9DB4287D55D}TF7521aafa-c748-4c40-a498-ba511be234dc5b1b6097_win32-5039330bb2f3</Template>
  <TotalTime>92</TotalTime>
  <Words>362</Words>
  <Application>Microsoft Office PowerPoint</Application>
  <PresentationFormat>Widescreen</PresentationFormat>
  <Paragraphs>89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Tenorite</vt:lpstr>
      <vt:lpstr>Custom</vt:lpstr>
      <vt:lpstr>Bttrpie   </vt:lpstr>
      <vt:lpstr>BTTR Agenda</vt:lpstr>
      <vt:lpstr>Design &amp; Criteria</vt:lpstr>
      <vt:lpstr>Design &amp; Criteria</vt:lpstr>
      <vt:lpstr>Design &amp; Criteria</vt:lpstr>
      <vt:lpstr>Design &amp; Criteria</vt:lpstr>
      <vt:lpstr>BTTR Procedure</vt:lpstr>
      <vt:lpstr>BTTR Procedure</vt:lpstr>
      <vt:lpstr>BTTR Procedure</vt:lpstr>
      <vt:lpstr>TESTING Procedure</vt:lpstr>
      <vt:lpstr>TESTING Procedure</vt:lpstr>
      <vt:lpstr>Schedule</vt:lpstr>
      <vt:lpstr>Schedule </vt:lpstr>
      <vt:lpstr>Thank you from the Bttr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Weis</dc:creator>
  <cp:lastModifiedBy>Amit Weis</cp:lastModifiedBy>
  <cp:revision>4</cp:revision>
  <dcterms:created xsi:type="dcterms:W3CDTF">2025-10-27T22:35:14Z</dcterms:created>
  <dcterms:modified xsi:type="dcterms:W3CDTF">2025-10-28T01:37:01Z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